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6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0" y="1828800"/>
            <a:ext cx="5760720" cy="3810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89B3C"/>
                </a:solidFill>
                <a:latin typeface="微软雅黑"/>
              </a:defRPr>
            </a:pPr>
            <a:r>
              <a:t>灵山胜境 AI 数字人导览系统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微软雅黑"/>
              </a:defRPr>
            </a:pPr>
            <a:r>
              <a:t>基于大语言模型的智慧景区导览系统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114800"/>
            <a:ext cx="5760720" cy="3810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AA"/>
                </a:solidFill>
                <a:latin typeface="微软雅黑"/>
              </a:defRPr>
            </a:pPr>
            <a:r>
              <a:t>软件杯 · 中国大学生软件设计大赛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微软雅黑"/>
              </a:defRPr>
            </a:pPr>
            <a:r>
              <a:t>技术栈：FastAPI + React Native (Expo) + Vue 3 + Ant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微软雅黑"/>
              </a:defRPr>
            </a:pPr>
            <a:r>
              <a:t>目标平台：Android 9+ 手机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微软雅黑"/>
              </a:defRPr>
            </a:pPr>
            <a:r>
              <a:t>2026 年 7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汇报提纲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4630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9B3C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15087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A2E"/>
                </a:solidFill>
                <a:latin typeface="微软雅黑"/>
              </a:defRPr>
            </a:pPr>
            <a:r>
              <a:t>需求分析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1488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9B3C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1945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A2E"/>
                </a:solidFill>
                <a:latin typeface="微软雅黑"/>
              </a:defRPr>
            </a:pPr>
            <a:r>
              <a:t>功能架构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8346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9B3C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8803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A2E"/>
                </a:solidFill>
                <a:latin typeface="微软雅黑"/>
              </a:defRPr>
            </a:pPr>
            <a:r>
              <a:t>技术选型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5204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9B3C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5661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A2E"/>
                </a:solidFill>
                <a:latin typeface="微软雅黑"/>
              </a:defRPr>
            </a:pPr>
            <a:r>
              <a:t>实现方案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2062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9B3C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251959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A2E"/>
                </a:solidFill>
                <a:latin typeface="微软雅黑"/>
              </a:defRPr>
            </a:pPr>
            <a:r>
              <a:t>创新点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8920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9B3C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937759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A2E"/>
                </a:solidFill>
                <a:latin typeface="微软雅黑"/>
              </a:defRPr>
            </a:pPr>
            <a:r>
              <a:t>测试情况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55778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9B3C"/>
                </a:solidFill>
                <a:latin typeface="微软雅黑"/>
              </a:defRPr>
            </a:pPr>
            <a:r>
              <a:t>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623559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A2E"/>
                </a:solidFill>
                <a:latin typeface="微软雅黑"/>
              </a:defRPr>
            </a:pPr>
            <a:r>
              <a:t>团队分工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01 需求分析 · 项目背景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2C5F8A"/>
                </a:solidFill>
                <a:latin typeface="微软雅黑"/>
              </a:defRPr>
            </a:pPr>
            <a:r>
              <a:t>景区概况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灵山胜境是国家 5A 级旅游景区，位于江苏省无锡市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以佛教文化为核心，集自然风光、人文景观、宗教体验于一体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年接待游客超百万人次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景区占地面积广阔，景点分布较为分散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传统人工导览和固定标识牌难以满足个性化、即时性需求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280160"/>
            <a:ext cx="539496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2E8B57"/>
                </a:solidFill>
                <a:latin typeface="微软雅黑"/>
              </a:defRPr>
            </a:pPr>
            <a:r>
              <a:t>技术机遇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大语言模型（LLM）中文理解与生成能力成熟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语音合成（TTS）/ 语音识别（ASR）达到商用水平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实时渲染技术使数字人导览成为可能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RAG 技术解决领域知识不足与幻觉问题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向量数据库使语义检索开箱即用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114800"/>
            <a:ext cx="1124712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C89B3C"/>
                </a:solidFill>
                <a:latin typeface="微软雅黑"/>
              </a:defRPr>
            </a:pPr>
            <a:r>
              <a:t>项目目标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为灵山胜境景区构建一套完整的 AI 数字人导览系统，覆盖游客端移动 App、管理后台和 AI 后端服务三端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提供从出行前规划到游中导航到游后分享的全链路服务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目标用户：游客用户（手机 App）+ 景区管理人员（Web 管理后台）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01 需求分析 · 核心痛点与功能需求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3035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34D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E34D2C"/>
                </a:solidFill>
                <a:latin typeface="微软雅黑"/>
              </a:defRPr>
            </a:pPr>
            <a:r>
              <a:t>核心痛点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❶ 信息获取不便：景点介绍、历史典故、设施位置难以快速获取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❷ 导览体验单一："千人一面"的讲解无法满足差异化需求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❸ 运营缺乏数据：游客行为偏好、热门景点分布无量化依据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❹ 紧急信息传达低效：公告通知依赖人工喊话或纸质张贴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280160"/>
            <a:ext cx="557784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2C5F8A"/>
                </a:solidFill>
                <a:latin typeface="微软雅黑"/>
              </a:defRPr>
            </a:pPr>
            <a:r>
              <a:t>功能需求概览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AI 智能导览对话（流式文本 + 语音 + 数字人）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景区地图与定位导航（百度地图 + GPS + 步行路线）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个性化推荐引擎（140K 行为数据 + 协同过滤）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拍照识景（EfficientNet-B3，12 类景点）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管理后台（数据看板 + 知识库 + 数字人配置）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1124712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C89B3C"/>
                </a:solidFill>
                <a:latin typeface="微软雅黑"/>
              </a:defRPr>
            </a:pPr>
            <a:r>
              <a:t>目标用户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【游客用户】前往灵山胜境景区的游客，通过手机 App 获取 AI 导览、地图导航、景点介绍、语音对话等服务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【景区管理人员】通过 Web 管理后台进行知识库维护、公告发布、数据看板监控、数字人配置、FAQ 管理等运营工作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系统需实现：AI 对话 | 数字人 | 语音交互 | 地图导航 | 拍照识景 | 个性化推荐 | 用户认证 | 数据看板 | 知识库管理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02 功能架构 · 系统总体架构</a:t>
            </a:r>
          </a:p>
          <a:p>
            <a:pPr algn="ctr">
              <a:defRPr sz="1400">
                <a:solidFill>
                  <a:srgbClr val="FFF0D0"/>
                </a:solidFill>
                <a:latin typeface="微软雅黑"/>
              </a:defRPr>
            </a:pPr>
            <a:r>
              <a:t>三端分离 · 五层架构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471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2C5F8A"/>
                </a:solidFill>
                <a:latin typeface="微软雅黑"/>
              </a:defRPr>
            </a:pPr>
            <a:r>
              <a:t>展示层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React Native App（移动端，Expo SDK）+ Vue 3 SPA（管理后台，Ant Design Vue）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560320"/>
            <a:ext cx="112471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2C5F8A"/>
                </a:solidFill>
                <a:latin typeface="微软雅黑"/>
              </a:defRPr>
            </a:pPr>
            <a:r>
              <a:t>通信层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RESTful API（HTTP）+ WebSocket（实时双向通信，承载 LLM token 流 + TTS 音频流 + 用户消息）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112471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C89B3C"/>
                </a:solidFill>
                <a:latin typeface="微软雅黑"/>
              </a:defRPr>
            </a:pPr>
            <a:r>
              <a:t>业务层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FastAPI 路由 + 服务层（LLM 对话、RAG 检索、TTS 合成、ASR 识别、推荐引擎、图像识别）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120640"/>
            <a:ext cx="54864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2E8B57"/>
                </a:solidFill>
                <a:latin typeface="微软雅黑"/>
              </a:defRPr>
            </a:pPr>
            <a:r>
              <a:t>数据层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SQLite（关系型）+ ChromaDB（向量存储）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文件系统（TTS 音频缓存、Live2D 模型）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5120640"/>
            <a:ext cx="54864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2E8B57"/>
                </a:solidFill>
                <a:latin typeface="微软雅黑"/>
              </a:defRPr>
            </a:pPr>
            <a:r>
              <a:t>AI 模型层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DeepSeek（云端 LLM）+ Whisper Small（本地 ASR）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BGE（本地 Embedding）+ EfficientNet-B3（图像）+ Edge TTS（云端）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02 功能架构 · 移动端（Expo SDK 56 / React Native 0.85）</a:t>
            </a:r>
          </a:p>
          <a:p>
            <a:pPr algn="ctr">
              <a:defRPr sz="1400">
                <a:solidFill>
                  <a:srgbClr val="FFF0D0"/>
                </a:solidFill>
                <a:latin typeface="微软雅黑"/>
              </a:defRPr>
            </a:pPr>
            <a:r>
              <a:t>5 个底部导航 Tab + 8 个核心页面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74320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C89B3C"/>
                </a:solidFill>
                <a:latin typeface="微软雅黑"/>
              </a:defRPr>
            </a:pPr>
            <a:r>
              <a:t>AI 导览对话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WebSocket 流式文本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多轮上下文（10轮）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RAG 知识增强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句子级 TTS 播放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Live2D 数字人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口型同步动画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男女模型切换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ChatScreen.tsx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371600"/>
            <a:ext cx="274320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2C5F8A"/>
                </a:solidFill>
                <a:latin typeface="微软雅黑"/>
              </a:defRPr>
            </a:pPr>
            <a:r>
              <a:t>语音 &amp; 识景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按钮录音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Whisper ASR 识别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自动发送对话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拍照识景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EfficientNet-B3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Top-5 预测结果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跳转景点详情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VoiceRecordButton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RecognizeModal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274320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2E8B57"/>
                </a:solidFill>
                <a:latin typeface="微软雅黑"/>
              </a:defRPr>
            </a:pPr>
            <a:r>
              <a:t>地图 &amp; 导航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百度地图 GL (3D)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BD09 坐标系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双源 GPS 定位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61 个景点标记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13 个厕所标记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步行路线规划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设施分类筛选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MapScreen.tsx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371600"/>
            <a:ext cx="24688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666666"/>
                </a:solidFill>
                <a:latin typeface="微软雅黑"/>
              </a:defRPr>
            </a:pPr>
            <a:r>
              <a:t>其他模块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景点列表/搜索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景点详情/评论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个性化推荐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收藏/浏览历史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用户注册/登录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Token 持久化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首页推荐芯片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ScenicListScreen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ProfileScreen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HomeScreen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02 功能架构 · 后端服务 &amp; 管理后台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2C5F8A"/>
                </a:solidFill>
                <a:latin typeface="微软雅黑"/>
              </a:defRPr>
            </a:pPr>
            <a:r>
              <a:t>后端服务（FastAPI，10 个路由模块 + 6 个服务模块）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【API 路由模块】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chat — AI 对话（WebSocket 流式）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voice — 语音识别/合成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scenic — 景点 CRUD/搜索/筛选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knowledge — 知识库管理 + 向量化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auth — JWT 认证/注册/登录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admin — 管理后台/数据看板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digital_human — 数字人配置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poi — POI 设施管理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recommend — 个性化推荐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recognition — 拍照识景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【服务模块】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llm_service / rag_service / recommend_service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recognition_service / poi_seed / faq_seed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280160"/>
            <a:ext cx="539496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2E8B57"/>
                </a:solidFill>
                <a:latin typeface="微软雅黑"/>
              </a:defRPr>
            </a:pPr>
            <a:r>
              <a:t>管理后台（Vue 3 + Ant Design Vue，7 个功能页面）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Dashboard 数据看板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 10 个统计模块 + ECharts 可视化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 容错分区设计（单模块失败不影响整体）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Knowledge 知识库管理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 CRUD + Excel 导入 + 分类筛选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FAQ 管理 / Announcements 公告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Users 用户列表 / Conversations 对话记录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DigitalHuman 数字人配置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Login 登录 + 路由守卫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【数据看板 10 模块】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概览统计 | 景点热度 | 性别分布 | 年龄分布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消费分析 | 满意度 | 出行人数 | 景点类型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对话趋势 | 游客行为偏好（140K 数据）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03 技术选型 · 技术栈总览与选型理由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65760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2C5F8A"/>
                </a:solidFill>
                <a:latin typeface="微软雅黑"/>
              </a:defRPr>
            </a:pPr>
            <a:r>
              <a:t>前端 &amp; 移动端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React Native + Expo SDK 56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一套 TS 代码运行 Android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对 react-native 0.85 完整支持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简化相机/定位/音频/语音集成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Vue 3 + Ant Design Vue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管理后台 7 个功能页面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ECharts 数据可视化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百度地图 JavaScript API GL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国内 POI 覆盖优于 Google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WebGL 3D 倾斜视角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BD09 坐标 + 步行路线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Live2D Cubism 4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2D 模型渲染性能需求低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PIXI.js + WebGL 流畅运行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280160"/>
            <a:ext cx="365760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C89B3C"/>
                </a:solidFill>
                <a:latin typeface="微软雅黑"/>
              </a:defRPr>
            </a:pPr>
            <a:r>
              <a:t>后端 &amp; AI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FastAPI + WebSocket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原生异步，单连接低延迟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承载 LLM+TTS 双向流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DeepSeek Chat（云端 LLM）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中文理解强，流式 SSE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可切换通义千问/豆包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Whisper Small（本地 ASR）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769MB，首次加载 3-15s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后续推理约 2-5s/条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启动时预加载避免首请求等待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Edge TTS（云端合成）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免费、多音色、高自然度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无需 GPU，部署简单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280160"/>
            <a:ext cx="338328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2E8B57"/>
                </a:solidFill>
                <a:latin typeface="微软雅黑"/>
              </a:defRPr>
            </a:pPr>
            <a:r>
              <a:t>数据 &amp; 模型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ChromaDB + BGE Embedding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轻量向量库，本地持久化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bge-small-zh 中文最优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RAG 抑制幻觉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EfficientNet-B3（识景）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~50MB，12 类景点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灵山专属微调训练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SQLite + aiosqlite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轻量部署，零配置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JWT (HS256) + bcrypt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无状态认证，7天有效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04 实现方案 · AI 智能导览对话</a:t>
            </a:r>
          </a:p>
          <a:p>
            <a:pPr algn="ctr">
              <a:defRPr sz="1400">
                <a:solidFill>
                  <a:srgbClr val="FFF0D0"/>
                </a:solidFill>
                <a:latin typeface="微软雅黑"/>
              </a:defRPr>
            </a:pPr>
            <a:r>
              <a:t>WebSocket 流式传输 + RAG 检索增强 + 句子级 TTS 合成流水线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C89B3C"/>
                </a:solidFill>
                <a:latin typeface="微软雅黑"/>
              </a:defRPr>
            </a:pPr>
            <a:r>
              <a:t>技术流程（6 步）</a:t>
            </a:r>
          </a:p>
          <a:p>
            <a:pPr>
              <a:spcAft>
                <a:spcPts val="200"/>
              </a:spcAft>
              <a:defRPr sz="1300">
                <a:solidFill>
                  <a:srgbClr val="666666"/>
                </a:solidFill>
                <a:latin typeface="微软雅黑"/>
              </a:defRPr>
            </a:pPr>
            <a:r>
              <a:t>① 移动端通过 WebSocket 连接后端 ws://host:8000/ws，发送用户消息（文字或语音识别结果）</a:t>
            </a:r>
          </a:p>
          <a:p>
            <a:pPr>
              <a:spcAft>
                <a:spcPts val="200"/>
              </a:spcAft>
              <a:defRPr sz="1300">
                <a:solidFill>
                  <a:srgbClr val="666666"/>
                </a:solidFill>
                <a:latin typeface="微软雅黑"/>
              </a:defRPr>
            </a:pPr>
            <a:r>
              <a:t>② 后端 digital_human.py WebSocket 处理器接收消息，调用 DeepSeek Chat 发起流式推理请求</a:t>
            </a:r>
          </a:p>
          <a:p>
            <a:pPr>
              <a:spcAft>
                <a:spcPts val="200"/>
              </a:spcAft>
              <a:defRPr sz="1300">
                <a:solidFill>
                  <a:srgbClr val="666666"/>
                </a:solidFill>
                <a:latin typeface="微软雅黑"/>
              </a:defRPr>
            </a:pPr>
            <a:r>
              <a:t>③ 每条消息携带最近 10 轮历史对话上下文，同时在 ChromaDB 知识库中执行语义检索，Top-5 相关知识片段注入 LLM 提示词</a:t>
            </a:r>
          </a:p>
          <a:p>
            <a:pPr>
              <a:spcAft>
                <a:spcPts val="200"/>
              </a:spcAft>
              <a:defRPr sz="1300">
                <a:solidFill>
                  <a:srgbClr val="666666"/>
                </a:solidFill>
                <a:latin typeface="微软雅黑"/>
              </a:defRPr>
            </a:pPr>
            <a:r>
              <a:t>④ LLM 流式返回 token 序列，后端通过正则匹配识别句子边界（句号、问号、感叹号、换行），每完成一个完整句子立即调用 Edge TTS 合成语音</a:t>
            </a:r>
          </a:p>
          <a:p>
            <a:pPr>
              <a:spcAft>
                <a:spcPts val="200"/>
              </a:spcAft>
              <a:defRPr sz="1300">
                <a:solidFill>
                  <a:srgbClr val="666666"/>
                </a:solidFill>
                <a:latin typeface="微软雅黑"/>
              </a:defRPr>
            </a:pPr>
            <a:r>
              <a:t>⑤ TTS 合成的 MP3 音频块通过 WebSocket 推送到移动端，附带对应文字片段和音频序号（seq），移动端按序加入播放队列</a:t>
            </a:r>
          </a:p>
          <a:p>
            <a:pPr>
              <a:spcAft>
                <a:spcPts val="200"/>
              </a:spcAft>
              <a:defRPr sz="1300">
                <a:solidFill>
                  <a:srgbClr val="666666"/>
                </a:solidFill>
                <a:latin typeface="微软雅黑"/>
              </a:defRPr>
            </a:pPr>
            <a:r>
              <a:t>⑥ 移动端使用 expo-audio 按 seq 顺序播放音频，同时向 Live2D WebView 发送 lipSync/idle 指令控制口型动画</a:t>
            </a:r>
          </a:p>
          <a:p>
            <a:pPr>
              <a:spcAft>
                <a:spcPts val="200"/>
              </a:spcAft>
              <a:defRPr sz="13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300">
                <a:solidFill>
                  <a:srgbClr val="666666"/>
                </a:solidFill>
                <a:latin typeface="微软雅黑"/>
              </a:defRPr>
            </a:pPr>
            <a:r>
              <a:t>【关键优化】</a:t>
            </a:r>
          </a:p>
          <a:p>
            <a:pPr>
              <a:spcAft>
                <a:spcPts val="200"/>
              </a:spcAft>
              <a:defRPr sz="1300">
                <a:solidFill>
                  <a:srgbClr val="666666"/>
                </a:solidFill>
                <a:latin typeface="微软雅黑"/>
              </a:defRPr>
            </a:pPr>
            <a:r>
              <a:t>▸ 句子级流水线：不等 LLM 完整回复，每完成一句即合成播放，首句延迟从 15-30s 降至 2-5s</a:t>
            </a:r>
          </a:p>
          <a:p>
            <a:pPr>
              <a:spcAft>
                <a:spcPts val="200"/>
              </a:spcAft>
              <a:defRPr sz="1300">
                <a:solidFill>
                  <a:srgbClr val="666666"/>
                </a:solidFill>
                <a:latin typeface="微软雅黑"/>
              </a:defRPr>
            </a:pPr>
            <a:r>
              <a:t>▸ 模型预加载：启动时预热 Whisper(769MB) + ChromaDB + BGE Embedding + LLM HTTP 客户端</a:t>
            </a:r>
          </a:p>
          <a:p>
            <a:pPr>
              <a:spcAft>
                <a:spcPts val="200"/>
              </a:spcAft>
              <a:defRPr sz="1300">
                <a:solidFill>
                  <a:srgbClr val="666666"/>
                </a:solidFill>
                <a:latin typeface="微软雅黑"/>
              </a:defRPr>
            </a:pPr>
            <a:r>
              <a:t>▸ 对话上下文记忆：Conversation + Message 表持久化，携带最近 10 轮历史实现多轮对话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04 实现方案 · 数字人 &amp; 景区地图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C89B3C"/>
                </a:solidFill>
                <a:latin typeface="微软雅黑"/>
              </a:defRPr>
            </a:pPr>
            <a:r>
              <a:t>Live2D 数字人（Cubism 4）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【渲染】PIXI.js + cubism4.js，WebGL Canvas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【模型】haru_greeter_t03（女）/ chitose（男）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【切换】URL 参数 ?model=male，移动端 UI 切换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【口型同步 — 无音频驱动方案】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移动端音频播放时发送 lipSync 指令（200ms 间隔）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音频结束/队列清空时发送 idle 指令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WebView 内 requestAnimationFrame 驱动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正弦波振荡：4.5Hz 基频 + 8Hz 谐波 + 1.5Hz 包络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驱动 ParamMouthOpenY 参数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【模型存储】static/digital-human/live2d/ 目录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【音频播放】expo-audio 队列管理，按 seq 播放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【自适应】根据 WebView 容器尺寸动态缩放，resize 自动重适配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48640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2E8B57"/>
                </a:solidFill>
                <a:latin typeface="微软雅黑"/>
              </a:defRPr>
            </a:pPr>
            <a:r>
              <a:rPr dirty="0" err="1"/>
              <a:t>百度地图</a:t>
            </a:r>
            <a:r>
              <a:rPr dirty="0"/>
              <a:t> GL（3D </a:t>
            </a:r>
            <a:r>
              <a:rPr dirty="0" err="1"/>
              <a:t>景区地图</a:t>
            </a:r>
            <a:r>
              <a:rPr dirty="0"/>
              <a:t>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rPr dirty="0"/>
              <a:t>【坐标】BD09 </a:t>
            </a:r>
            <a:r>
              <a:rPr dirty="0" err="1"/>
              <a:t>坐标系（现场百度地图</a:t>
            </a:r>
            <a:r>
              <a:rPr dirty="0"/>
              <a:t> App </a:t>
            </a:r>
            <a:r>
              <a:rPr dirty="0" err="1"/>
              <a:t>采集</a:t>
            </a:r>
            <a:r>
              <a:rPr dirty="0"/>
              <a:t>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rPr dirty="0"/>
              <a:t>【数据】61 </a:t>
            </a:r>
            <a:r>
              <a:rPr dirty="0" err="1"/>
              <a:t>个景点</a:t>
            </a:r>
            <a:r>
              <a:rPr dirty="0"/>
              <a:t> + 13 </a:t>
            </a:r>
            <a:r>
              <a:rPr dirty="0" err="1"/>
              <a:t>个厕所</a:t>
            </a:r>
            <a:r>
              <a:rPr dirty="0"/>
              <a:t> + </a:t>
            </a:r>
            <a:r>
              <a:rPr dirty="0" err="1"/>
              <a:t>出入口</a:t>
            </a:r>
            <a:r>
              <a:rPr dirty="0"/>
              <a:t>/</a:t>
            </a:r>
            <a:r>
              <a:rPr dirty="0" err="1"/>
              <a:t>停车场</a:t>
            </a:r>
            <a:r>
              <a:rPr dirty="0"/>
              <a:t>/</a:t>
            </a:r>
            <a:r>
              <a:rPr dirty="0" err="1"/>
              <a:t>餐饮</a:t>
            </a:r>
            <a:endParaRPr dirty="0"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 dirty="0"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rPr dirty="0"/>
              <a:t>【GPS </a:t>
            </a:r>
            <a:r>
              <a:rPr dirty="0" err="1"/>
              <a:t>定位</a:t>
            </a:r>
            <a:r>
              <a:rPr dirty="0"/>
              <a:t> — </a:t>
            </a:r>
            <a:r>
              <a:rPr dirty="0" err="1"/>
              <a:t>双源策略</a:t>
            </a:r>
            <a:r>
              <a:rPr dirty="0"/>
              <a:t>】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rPr dirty="0"/>
              <a:t>▸ </a:t>
            </a:r>
            <a:r>
              <a:rPr dirty="0" err="1"/>
              <a:t>优先：百度</a:t>
            </a:r>
            <a:r>
              <a:rPr dirty="0"/>
              <a:t> </a:t>
            </a:r>
            <a:r>
              <a:rPr dirty="0" err="1"/>
              <a:t>Geolocation（适用无</a:t>
            </a:r>
            <a:r>
              <a:rPr dirty="0"/>
              <a:t> Google Play </a:t>
            </a:r>
            <a:r>
              <a:rPr dirty="0" err="1"/>
              <a:t>国产手机</a:t>
            </a:r>
            <a:r>
              <a:rPr dirty="0"/>
              <a:t>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rPr dirty="0"/>
              <a:t>▸ </a:t>
            </a:r>
            <a:r>
              <a:rPr dirty="0" err="1"/>
              <a:t>备选：React</a:t>
            </a:r>
            <a:r>
              <a:rPr dirty="0"/>
              <a:t> Native expo-location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rPr dirty="0"/>
              <a:t>▸ WGS84 → BD09 自动转换（wgs84ToBd09()）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rPr dirty="0"/>
              <a:t>▸ </a:t>
            </a:r>
            <a:r>
              <a:rPr dirty="0" err="1"/>
              <a:t>定位结果实时显示蓝色圆点</a:t>
            </a:r>
            <a:endParaRPr dirty="0"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 dirty="0"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rPr dirty="0"/>
              <a:t>【</a:t>
            </a:r>
            <a:r>
              <a:rPr dirty="0" err="1"/>
              <a:t>步行路线】百度</a:t>
            </a:r>
            <a:r>
              <a:rPr dirty="0"/>
              <a:t> </a:t>
            </a:r>
            <a:r>
              <a:rPr dirty="0" err="1"/>
              <a:t>WalkingRoute</a:t>
            </a:r>
            <a:r>
              <a:rPr dirty="0"/>
              <a:t> API </a:t>
            </a:r>
            <a:r>
              <a:rPr dirty="0" err="1"/>
              <a:t>规划并绘制</a:t>
            </a:r>
            <a:endParaRPr dirty="0"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rPr dirty="0"/>
              <a:t>【</a:t>
            </a:r>
            <a:r>
              <a:rPr dirty="0" err="1"/>
              <a:t>设施筛选】底部筛选栏</a:t>
            </a:r>
            <a:r>
              <a:rPr dirty="0"/>
              <a:t>：</a:t>
            </a:r>
            <a:r>
              <a:rPr lang="zh-CN" altLang="zh-CN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景区内厕所停车场等常用设施点位</a:t>
            </a:r>
            <a:endParaRPr sz="12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rPr dirty="0"/>
              <a:t>【地图交互】3D </a:t>
            </a:r>
            <a:r>
              <a:rPr dirty="0" err="1"/>
              <a:t>倾斜</a:t>
            </a:r>
            <a:r>
              <a:rPr dirty="0"/>
              <a:t> 45°、</a:t>
            </a:r>
            <a:r>
              <a:rPr dirty="0" err="1"/>
              <a:t>缩放、拖拽</a:t>
            </a:r>
            <a:endParaRPr dirty="0"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rPr dirty="0"/>
              <a:t>【</a:t>
            </a:r>
            <a:r>
              <a:rPr dirty="0" err="1"/>
              <a:t>标记颜色】紫色景点</a:t>
            </a:r>
            <a:r>
              <a:rPr dirty="0"/>
              <a:t>/</a:t>
            </a:r>
            <a:r>
              <a:rPr dirty="0" err="1"/>
              <a:t>蓝色出入口</a:t>
            </a:r>
            <a:r>
              <a:rPr dirty="0"/>
              <a:t>/</a:t>
            </a:r>
            <a:r>
              <a:rPr dirty="0" err="1"/>
              <a:t>粉色厕所</a:t>
            </a:r>
            <a:r>
              <a:rPr dirty="0"/>
              <a:t>/</a:t>
            </a:r>
            <a:r>
              <a:rPr dirty="0" err="1"/>
              <a:t>黄色停车</a:t>
            </a:r>
            <a:r>
              <a:rPr dirty="0"/>
              <a:t>/</a:t>
            </a:r>
            <a:r>
              <a:rPr dirty="0" err="1"/>
              <a:t>绿色服务</a:t>
            </a:r>
            <a:r>
              <a:rPr dirty="0"/>
              <a:t>/</a:t>
            </a:r>
            <a:r>
              <a:rPr dirty="0" err="1"/>
              <a:t>橙色餐饮</a:t>
            </a:r>
            <a:endParaRPr dirty="0"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rPr dirty="0"/>
              <a:t>【POI </a:t>
            </a:r>
            <a:r>
              <a:rPr dirty="0" err="1"/>
              <a:t>点击】弹出信息窗口，景点标记跳转详情页</a:t>
            </a:r>
            <a:endParaRPr dirty="0"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rPr dirty="0"/>
              <a:t>【坐标记录】tools/collected_coords.md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04 实现方案 · 推荐引擎 / 拍照识景 / 用户认证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65760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2C5F8A"/>
                </a:solidFill>
                <a:latin typeface="微软雅黑"/>
              </a:defRPr>
            </a:pPr>
            <a:r>
              <a:t>个性化推荐引擎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【三道策略】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❶ 内容信号：解析最近 20 条对话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 提取景点关键词匹配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 + user.visit_history 浏览记录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❷ 协同过滤：140K TouristBehavior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 找相似游客群体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 推荐其高频访问景点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❸ 热度兜底：冷启动时按 PV 排序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 自动排除已浏览景点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【数据过滤】仅保留灵山 40 个景点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【API 端点】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GET /recommend/for-user 个性化推荐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POST /recommend/track/view 浏览追踪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POST /recommend/track/favorite 收藏切换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280160"/>
            <a:ext cx="365760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C89B3C"/>
                </a:solidFill>
                <a:latin typeface="微软雅黑"/>
              </a:defRPr>
            </a:pPr>
            <a:r>
              <a:t>拍照识景（CNN）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【模型】EfficientNet-B3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输入 256×256，~50MB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12 类灵山景点分类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（大佛/九龙灌浴/梵宫/五印坛城等）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【推理流程】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expo-image-picker 拍摄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→ base64 编码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→ POST /recognition/identify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→ PyTorch Softmax 推理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→ 返回 Top-5 名称+置信度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【托管】best_model.pth (129MB)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+ class_labels.json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首次请求时加载到内存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【集成位置】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拍照按钮在 ChatScreen 输入工具栏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识别结果以 RecognizeModal 弹窗展示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用户可选择跳转对应景点详情页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280160"/>
            <a:ext cx="338328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2E8B57"/>
                </a:solidFill>
                <a:latin typeface="微软雅黑"/>
              </a:defRPr>
            </a:pPr>
            <a:r>
              <a:t>用户认证 &amp; 持久化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【注册/登录】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账号≥3位 + 密码≥6位(含字母数字)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passlib bcrypt 哈希存储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【JWT Token】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HS256 签发，有效期 7 天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Authorization: Bearer 头携带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【Token 持久化】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expo-secure-store (Android Keystore)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App 启动 restoreAuth() 恢复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【安全】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401 自动清除 Token 跳转登录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登录限频：1分钟最多5次→429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管理后台 router.beforeEach 守卫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05 创新点（1-4）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C89B3C"/>
                </a:solidFill>
                <a:latin typeface="微软雅黑"/>
              </a:defRPr>
            </a:pPr>
            <a:r>
              <a:t>1. 句子级流式 TTS 流水线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传统方案：LLM 完整回复 → 整段 TTS → 用户等待 15-30 秒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本系统：LLM 每生成一句立即触发 TTS 合成和音频推送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效果：首句语音延迟从 15-30s 降至 2-5s，"边想边说"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2C5F8A"/>
                </a:solidFill>
                <a:latin typeface="微软雅黑"/>
              </a:defRPr>
            </a:pPr>
            <a:r>
              <a:t>2. WebSocket 三合一数据通道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单连接同时承载三路数据流：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(1) 上行用户消息 (2) 下行 LLM token 文字流 (3) 下行 TTS 音频块流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音频块附带 seq 序号保证乱序场景下正确播放顺序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49039"/>
            <a:ext cx="548640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2E8B57"/>
                </a:solidFill>
                <a:latin typeface="微软雅黑"/>
              </a:defRPr>
            </a:pPr>
            <a:r>
              <a:t>3. Live2D 口型动画无音频驱动方案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问题：RN WebView 中音频由 expo-audio 原生播放，无法接入 Web Audio 分析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方案：移动端指令驱动 + WebView 正弦波振荡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移动端持续发送 lipSync 指令（200ms 间隔）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WebView 用 requestAnimationFrame 生成自然口型波动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不依赖音频信号本身，跨平台兼容性更好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749039"/>
            <a:ext cx="548640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666666"/>
                </a:solidFill>
                <a:latin typeface="微软雅黑"/>
              </a:defRPr>
            </a:pPr>
            <a:r>
              <a:t>4. 双源 GPS 坐标自适应转换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问题：百度 BD09 / GPS WGS84 / 百度 Geolocation 三种坐标源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方案：HTML 地图层自动识别坐标来源并选择性转换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GPS WGS84 → BD09（自动转换）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百度定位 → 直接使用（避免重复转换导致 ~500m 偏移）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用户定位源标记为 ref，确保步行导航使用正确起始坐标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05 创新点（5-8）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C89B3C"/>
                </a:solidFill>
                <a:latin typeface="微软雅黑"/>
              </a:defRPr>
            </a:pPr>
            <a:r>
              <a:t>5. 多模态景区识别融合（RAG + CNN）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文本层面：ChromaDB 向量检索 22 个结构化景点知识条目 → 注入 LLM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视觉层面：EfficientNet-B3 识别游客拍摄的景点照片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游客可通过语音、文字或拍照三种方式获取景点信息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2C5F8A"/>
                </a:solidFill>
                <a:latin typeface="微软雅黑"/>
              </a:defRPr>
            </a:pPr>
            <a:r>
              <a:t>6. 140K 行为数据驱动协同过滤推荐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利用赛方提供的 140K 条游客行为分析数据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整合内容分析 + 协同过滤 + 热度兜底三道策略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冷启动用户也能获得有效推荐，数据严格过滤仅保留灵山 40 景点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49039"/>
            <a:ext cx="548640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2E8B57"/>
                </a:solidFill>
                <a:latin typeface="微软雅黑"/>
              </a:defRPr>
            </a:pPr>
            <a:r>
              <a:t>7. 服务启动模型预加载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FastAPI lifespan 事件中预加载三个重量级模型：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(1) Whisper Small ASR 模型（769MB）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(2) ChromaDB + BGE Embedding 模型（471MB）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(3) LLM HTTP 客户端连接池（预热 DNS+TCP+TLS）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避免首请求 8-30 秒冷启动延迟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749039"/>
            <a:ext cx="548640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666666"/>
                </a:solidFill>
                <a:latin typeface="微软雅黑"/>
              </a:defRPr>
            </a:pPr>
            <a:r>
              <a:t>8. 管理后台"容错分区"设计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仪表盘 /api/admin/dashboard_full 包含 10 个统计模块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每个模块独立 try/except 包裹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单一数据表查询失败不影响其他 9 个模块数据返回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前端以 a-alert 警告提示替代白屏崩溃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保证运营监控的持续可用性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06 系统演示 · 移动端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7017" y="6233465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rPr dirty="0"/>
              <a:t>图 1：AI </a:t>
            </a:r>
            <a:r>
              <a:rPr dirty="0" err="1"/>
              <a:t>导览对话</a:t>
            </a:r>
            <a:r>
              <a:rPr dirty="0"/>
              <a:t> — </a:t>
            </a:r>
            <a:r>
              <a:rPr dirty="0" err="1"/>
              <a:t>流式文本</a:t>
            </a:r>
            <a:r>
              <a:rPr dirty="0"/>
              <a:t> + TTS </a:t>
            </a:r>
            <a:r>
              <a:rPr dirty="0" err="1"/>
              <a:t>语音</a:t>
            </a:r>
            <a:r>
              <a:rPr dirty="0"/>
              <a:t> + Live2D </a:t>
            </a:r>
            <a:r>
              <a:rPr dirty="0" err="1"/>
              <a:t>口型同步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297680" y="616534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rPr dirty="0"/>
              <a:t>图 2：百度地图 3D — GPS </a:t>
            </a:r>
            <a:r>
              <a:rPr dirty="0" err="1"/>
              <a:t>定位</a:t>
            </a:r>
            <a:r>
              <a:rPr dirty="0"/>
              <a:t> + POI </a:t>
            </a:r>
            <a:r>
              <a:rPr dirty="0" err="1"/>
              <a:t>标注</a:t>
            </a:r>
            <a:r>
              <a:rPr dirty="0"/>
              <a:t> + </a:t>
            </a:r>
            <a:r>
              <a:rPr dirty="0" err="1"/>
              <a:t>步行路线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178343" y="6145225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rPr dirty="0"/>
              <a:t>图 3：首页推荐 + </a:t>
            </a:r>
            <a:r>
              <a:rPr dirty="0" err="1"/>
              <a:t>数字人导览</a:t>
            </a:r>
            <a:endParaRPr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4B59BE6-B5D6-DE81-B0FD-621DDD338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564" y="1073963"/>
            <a:ext cx="2423709" cy="509137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0F525D0-97FA-7DFA-2296-4D326777B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696" y="1073963"/>
            <a:ext cx="2397191" cy="509137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CF03D0B-4154-B978-A7B9-6924991CF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2375" y="1051334"/>
            <a:ext cx="2397191" cy="51140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06 系统演示 · 功能展示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544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rPr dirty="0"/>
              <a:t>图 4：语音输入 + </a:t>
            </a:r>
            <a:r>
              <a:rPr dirty="0" err="1"/>
              <a:t>拍照识景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297680" y="6225235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rPr dirty="0"/>
              <a:t>图 5：景点列表 / </a:t>
            </a:r>
            <a:r>
              <a:rPr dirty="0" err="1"/>
              <a:t>详情</a:t>
            </a:r>
            <a:r>
              <a:rPr dirty="0"/>
              <a:t> / </a:t>
            </a:r>
            <a:r>
              <a:rPr dirty="0" err="1"/>
              <a:t>推荐芯片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138160" y="6225235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图 6：Live2D 数字人口型同步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4A6E7F4-21F6-2118-1369-B671C09F4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252" y="1098556"/>
            <a:ext cx="2424903" cy="515593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E34D1CC-19AF-1766-B495-CA8EC6C95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3505" y="1098556"/>
            <a:ext cx="2413811" cy="512667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E7899FB-B926-C659-6826-45879F1EFA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7703" y="1104650"/>
            <a:ext cx="2413811" cy="51437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06 系统演示 · 管理后台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9417" y="6307531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rPr dirty="0"/>
              <a:t>图 7：数据看板（10 </a:t>
            </a:r>
            <a:r>
              <a:rPr dirty="0" err="1"/>
              <a:t>个统计模块</a:t>
            </a:r>
            <a:r>
              <a:rPr dirty="0"/>
              <a:t> + </a:t>
            </a:r>
            <a:r>
              <a:rPr dirty="0" err="1"/>
              <a:t>ECharts</a:t>
            </a:r>
            <a:r>
              <a:rPr dirty="0"/>
              <a:t>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6307531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rPr dirty="0"/>
              <a:t>图 8：知识库管理 + </a:t>
            </a:r>
            <a:r>
              <a:rPr dirty="0" err="1"/>
              <a:t>数字人配置</a:t>
            </a:r>
            <a:endParaRPr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D4B6AE9-5924-85EF-235C-5AFEA4D2C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66" y="1108953"/>
            <a:ext cx="4276465" cy="519857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D6AEF52-6E2D-ACD1-1314-130CD3758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59" y="1108954"/>
            <a:ext cx="3907328" cy="519857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06 测试情况 · 测试策略与后端 API 测试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30352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2C5F8A"/>
                </a:solidFill>
                <a:latin typeface="微软雅黑"/>
              </a:defRPr>
            </a:pPr>
            <a:r>
              <a:t>测试策略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采用分层测试策略，覆盖三个层面：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后端 API 测试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前端 UI 功能测试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端到端集成测试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以手动功能验证为主，辅以自动化 API 测试脚本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【后端 API 测试覆盖】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对全部 10 个 API 路由模块的 40+ 个端点验证：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认证：登录/注册/Token/过期拒绝/密码校验/频率限制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对话：WebSocket 连接/断开/消息收发/历史查询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景点：列表分页/搜索/筛选/详情/附近计算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推荐：个性化生成/浏览追踪/收藏切换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语音：TTS 合成/ASR 识别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POI：附近设施/分类筛选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管理：仪表盘 10 模块容错/FAQ/公告/知识库/数字人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系统：/health 健康检查/全局异常/CORS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280160"/>
            <a:ext cx="557784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2E8B57"/>
                </a:solidFill>
                <a:latin typeface="微软雅黑"/>
              </a:defRPr>
            </a:pPr>
            <a:r>
              <a:t>移动端 &amp; 管理后台功能测试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【移动端真机测试（Android）】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App 启动/闪屏 → 首页加载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注册 → 登录 → Token 持久化 → 退出 → 重新登录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AI 对话：文字 → WebSocket → 流式回复 → TTS → Live2D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语音：录音 → ASR → 自动发送 → AI 回复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地图：GPS 定位/标记渲染/步行路线/设施筛选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景点：列表/搜索/详情/评论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拍照识景：相机 → 上传 → 识别 → 跳转详情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收藏/历史/推荐芯片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【管理后台测试（Chrome/Edge）】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登录/登出/路由守卫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仪表盘 10 模块 + 断 DB 容错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知识库 CRUD + Excel 导入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用户/对话记录/公告/FAQ/数字人配置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06 测试情况 · 已知问题与限制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C89B3C"/>
                </a:solidFill>
                <a:latin typeface="微软雅黑"/>
              </a:defRPr>
            </a:pPr>
            <a:r>
              <a:t>已知问题与限制</a:t>
            </a:r>
          </a:p>
          <a:p>
            <a:pPr>
              <a:spcAft>
                <a:spcPts val="200"/>
              </a:spcAft>
              <a:defRPr sz="1400">
                <a:solidFill>
                  <a:srgbClr val="666666"/>
                </a:solidFill>
                <a:latin typeface="微软雅黑"/>
              </a:defRPr>
            </a:pPr>
            <a:r>
              <a:t>❶ Whisper Small 模型在无 GPU 环境下推理耗时 2-5 秒/条，长语音录制的识别等待时间较长</a:t>
            </a:r>
          </a:p>
          <a:p>
            <a:pPr>
              <a:spcAft>
                <a:spcPts val="200"/>
              </a:spcAft>
              <a:defRPr sz="14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666666"/>
                </a:solidFill>
                <a:latin typeface="微软雅黑"/>
              </a:defRPr>
            </a:pPr>
            <a:r>
              <a:t>❷ DeepSeek 目前不支持多模态图像理解，拍照识景仅通过专用 CNN 模型识别景点类别，无法理解照片中的文字或复杂场景</a:t>
            </a:r>
          </a:p>
          <a:p>
            <a:pPr>
              <a:spcAft>
                <a:spcPts val="200"/>
              </a:spcAft>
              <a:defRPr sz="14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666666"/>
                </a:solidFill>
                <a:latin typeface="微软雅黑"/>
              </a:defRPr>
            </a:pPr>
            <a:r>
              <a:t>❸ 当前仅适配 Android 平台，iOS 平台需要额外配置 Live2D Cubism SDK 和百度地图 SDK</a:t>
            </a:r>
          </a:p>
          <a:p>
            <a:pPr>
              <a:spcAft>
                <a:spcPts val="200"/>
              </a:spcAft>
              <a:defRPr sz="14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666666"/>
                </a:solidFill>
                <a:latin typeface="微软雅黑"/>
              </a:defRPr>
            </a:pPr>
            <a:r>
              <a:t>❹ 使用百度地图 JavaScript API 需要有效的网络连接，离线场景下地图功能不可用</a:t>
            </a:r>
          </a:p>
          <a:p>
            <a:pPr>
              <a:spcAft>
                <a:spcPts val="200"/>
              </a:spcAft>
              <a:defRPr sz="1400">
                <a:solidFill>
                  <a:srgbClr val="666666"/>
                </a:solidFill>
                <a:latin typeface="微软雅黑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666666"/>
                </a:solidFill>
                <a:latin typeface="微软雅黑"/>
              </a:defRPr>
            </a:pPr>
            <a:r>
              <a:t>【未来改进方向】</a:t>
            </a:r>
          </a:p>
          <a:p>
            <a:pPr>
              <a:spcAft>
                <a:spcPts val="200"/>
              </a:spcAft>
              <a:defRPr sz="1400">
                <a:solidFill>
                  <a:srgbClr val="666666"/>
                </a:solidFill>
                <a:latin typeface="微软雅黑"/>
              </a:defRPr>
            </a:pPr>
            <a:r>
              <a:t>▸ 接入多模态大模型实现真正的拍照识景 + 图像问答</a:t>
            </a:r>
          </a:p>
          <a:p>
            <a:pPr>
              <a:spcAft>
                <a:spcPts val="200"/>
              </a:spcAft>
              <a:defRPr sz="1400">
                <a:solidFill>
                  <a:srgbClr val="666666"/>
                </a:solidFill>
                <a:latin typeface="微软雅黑"/>
              </a:defRPr>
            </a:pPr>
            <a:r>
              <a:t>▸ 探索端侧小模型部署，实现离线基础导览</a:t>
            </a:r>
          </a:p>
          <a:p>
            <a:pPr>
              <a:spcAft>
                <a:spcPts val="200"/>
              </a:spcAft>
              <a:defRPr sz="1400">
                <a:solidFill>
                  <a:srgbClr val="666666"/>
                </a:solidFill>
                <a:latin typeface="微软雅黑"/>
              </a:defRPr>
            </a:pPr>
            <a:r>
              <a:t>▸ 适配 iOS 平台，实现跨平台完整覆盖</a:t>
            </a:r>
          </a:p>
          <a:p>
            <a:pPr>
              <a:spcAft>
                <a:spcPts val="200"/>
              </a:spcAft>
              <a:defRPr sz="1400">
                <a:solidFill>
                  <a:srgbClr val="666666"/>
                </a:solidFill>
                <a:latin typeface="微软雅黑"/>
              </a:defRPr>
            </a:pPr>
            <a:r>
              <a:t>▸ 引入 AR 实景导航，提升沉浸式体验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07 团队分工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C89B3C"/>
                </a:solidFill>
                <a:latin typeface="微软雅黑"/>
              </a:defRPr>
            </a:pPr>
            <a:r>
              <a:rPr dirty="0" err="1"/>
              <a:t>后端开发（权子豪</a:t>
            </a:r>
            <a:r>
              <a:rPr dirty="0"/>
              <a:t>）— </a:t>
            </a:r>
            <a:r>
              <a:rPr dirty="0" err="1"/>
              <a:t>FastAPI</a:t>
            </a:r>
            <a:r>
              <a:rPr dirty="0"/>
              <a:t> </a:t>
            </a:r>
            <a:r>
              <a:rPr dirty="0" err="1"/>
              <a:t>后端服务</a:t>
            </a:r>
            <a:endParaRPr dirty="0"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rPr dirty="0"/>
              <a:t>▸ API 路由设计与实现（10 </a:t>
            </a:r>
            <a:r>
              <a:rPr dirty="0" err="1"/>
              <a:t>个模块</a:t>
            </a:r>
            <a:r>
              <a:rPr dirty="0"/>
              <a:t>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rPr dirty="0"/>
              <a:t>▸ </a:t>
            </a:r>
            <a:r>
              <a:rPr dirty="0" err="1"/>
              <a:t>数据库模型设计、WebSocket</a:t>
            </a:r>
            <a:r>
              <a:rPr dirty="0"/>
              <a:t> </a:t>
            </a:r>
            <a:r>
              <a:rPr dirty="0" err="1"/>
              <a:t>实时通信</a:t>
            </a:r>
            <a:endParaRPr dirty="0"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rPr dirty="0"/>
              <a:t>▸ LLM/RAG/TTS/ASR </a:t>
            </a:r>
            <a:r>
              <a:rPr dirty="0" err="1"/>
              <a:t>服务集成</a:t>
            </a:r>
            <a:endParaRPr dirty="0"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rPr dirty="0"/>
              <a:t>▸ </a:t>
            </a:r>
            <a:r>
              <a:rPr dirty="0" err="1"/>
              <a:t>推荐引擎算法实现、拍照识景模型部署</a:t>
            </a:r>
            <a:endParaRPr dirty="0"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rPr dirty="0"/>
              <a:t>▸ </a:t>
            </a:r>
            <a:r>
              <a:rPr dirty="0" err="1"/>
              <a:t>管理后台数据</a:t>
            </a:r>
            <a:r>
              <a:rPr dirty="0"/>
              <a:t> </a:t>
            </a:r>
            <a:r>
              <a:rPr dirty="0" err="1"/>
              <a:t>API、全局异常处理与安全加固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4864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2C5F8A"/>
                </a:solidFill>
                <a:latin typeface="微软雅黑"/>
              </a:defRPr>
            </a:pPr>
            <a:r>
              <a:rPr dirty="0" err="1"/>
              <a:t>移动端开发</a:t>
            </a:r>
            <a:r>
              <a:rPr dirty="0"/>
              <a:t>（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冯致翔</a:t>
            </a:r>
            <a:r>
              <a:rPr dirty="0"/>
              <a:t>）— React Native App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rPr dirty="0"/>
              <a:t>▸ </a:t>
            </a:r>
            <a:r>
              <a:rPr dirty="0" err="1"/>
              <a:t>页面</a:t>
            </a:r>
            <a:r>
              <a:rPr dirty="0"/>
              <a:t> UI 开发（8 </a:t>
            </a:r>
            <a:r>
              <a:rPr dirty="0" err="1"/>
              <a:t>个页面</a:t>
            </a:r>
            <a:r>
              <a:rPr dirty="0"/>
              <a:t>）、</a:t>
            </a:r>
            <a:r>
              <a:rPr dirty="0" err="1"/>
              <a:t>导航架构（Tab</a:t>
            </a:r>
            <a:r>
              <a:rPr dirty="0"/>
              <a:t> + Stack）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rPr dirty="0"/>
              <a:t>▸ WebSocket 客户端、Live2D WebView </a:t>
            </a:r>
            <a:r>
              <a:rPr dirty="0" err="1"/>
              <a:t>口型同步</a:t>
            </a:r>
            <a:endParaRPr dirty="0"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rPr dirty="0"/>
              <a:t>▸ expo-audio </a:t>
            </a:r>
            <a:r>
              <a:rPr dirty="0" err="1"/>
              <a:t>音频播放队列、百度地图</a:t>
            </a:r>
            <a:r>
              <a:rPr dirty="0"/>
              <a:t> WebView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rPr dirty="0"/>
              <a:t>▸ GPS </a:t>
            </a:r>
            <a:r>
              <a:rPr dirty="0" err="1"/>
              <a:t>定位与坐标转换、语音输入</a:t>
            </a:r>
            <a:r>
              <a:rPr dirty="0"/>
              <a:t>/</a:t>
            </a:r>
            <a:r>
              <a:rPr dirty="0" err="1"/>
              <a:t>输出</a:t>
            </a:r>
            <a:endParaRPr dirty="0"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rPr dirty="0"/>
              <a:t>▸ Token </a:t>
            </a:r>
            <a:r>
              <a:rPr dirty="0" err="1"/>
              <a:t>持久化与登录流程、灵山禅意主题设计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36576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2E8B57"/>
                </a:solidFill>
                <a:latin typeface="微软雅黑"/>
              </a:defRPr>
            </a:pPr>
            <a:r>
              <a:t>前端开发（宾资学）— Vue 3 管理后台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页面 UI 开发（7 个页面）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路由与导航守卫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ECharts 数据可视化仪表盘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知识库管理 + Excel 导入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FAQ CRUD、数字人配置表单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禅意金色系主题定制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3840480"/>
            <a:ext cx="36576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666666"/>
                </a:solidFill>
                <a:latin typeface="微软雅黑"/>
              </a:defRPr>
            </a:pPr>
            <a:r>
              <a:t>数据工程（权子豪）— 景区数据采集与导入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景点/设施坐标实地采集（BD09）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   61 景点 + 13 厕所 + 其他设施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22 个结构化景点知识条目编写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3 条游览路线设计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140K 游客行为数据清洗与导入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t>▸ 知识库 Excel + ChromaDB 向量化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3840480"/>
            <a:ext cx="33832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34D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E34D2C"/>
                </a:solidFill>
                <a:latin typeface="微软雅黑"/>
              </a:defRPr>
            </a:pPr>
            <a:r>
              <a:rPr dirty="0" err="1"/>
              <a:t>项目管理</a:t>
            </a:r>
            <a:r>
              <a:rPr dirty="0"/>
              <a:t>/</a:t>
            </a:r>
            <a:r>
              <a:rPr dirty="0" err="1"/>
              <a:t>测试（冯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致</a:t>
            </a:r>
            <a:r>
              <a:rPr dirty="0" err="1"/>
              <a:t>翔、宾资学</a:t>
            </a:r>
            <a:r>
              <a:rPr dirty="0"/>
              <a:t>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rPr dirty="0"/>
              <a:t>▸ </a:t>
            </a:r>
            <a:r>
              <a:rPr dirty="0" err="1"/>
              <a:t>端到端功能测试</a:t>
            </a:r>
            <a:endParaRPr dirty="0"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rPr dirty="0"/>
              <a:t>▸ Bug </a:t>
            </a:r>
            <a:r>
              <a:rPr dirty="0" err="1"/>
              <a:t>追踪与修复验证</a:t>
            </a:r>
            <a:endParaRPr dirty="0"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rPr dirty="0"/>
              <a:t>▸ API </a:t>
            </a:r>
            <a:r>
              <a:rPr dirty="0" err="1"/>
              <a:t>接口测试</a:t>
            </a:r>
            <a:endParaRPr dirty="0"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rPr dirty="0"/>
              <a:t>▸ </a:t>
            </a:r>
            <a:r>
              <a:rPr dirty="0" err="1"/>
              <a:t>真机兼容性测试</a:t>
            </a:r>
            <a:endParaRPr dirty="0"/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微软雅黑"/>
              </a:defRPr>
            </a:pPr>
            <a:r>
              <a:rPr dirty="0"/>
              <a:t>▸ </a:t>
            </a:r>
            <a:r>
              <a:rPr dirty="0" err="1"/>
              <a:t>技术文档编写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0" y="731520"/>
            <a:ext cx="5760720" cy="3810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C89B3C"/>
                </a:solidFill>
                <a:latin typeface="微软雅黑"/>
              </a:defRPr>
            </a:pPr>
            <a: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C89B3C"/>
                </a:solidFill>
                <a:latin typeface="微软雅黑"/>
              </a:defRPr>
            </a:pPr>
            <a:r>
              <a:t>项目成果</a:t>
            </a:r>
          </a:p>
          <a:p>
            <a:pPr>
              <a:spcAft>
                <a:spcPts val="500"/>
              </a:spcAft>
              <a:defRPr sz="1700">
                <a:solidFill>
                  <a:srgbClr val="FFFFFF"/>
                </a:solidFill>
                <a:latin typeface="微软雅黑"/>
              </a:defRPr>
            </a:pPr>
            <a:r>
              <a:t>✅  完整三端架构：移动端（Expo/RN）+ 管理后台（Vue 3 + Ant Design）+ 后端（FastAPI）</a:t>
            </a:r>
          </a:p>
          <a:p>
            <a:pPr>
              <a:spcAft>
                <a:spcPts val="500"/>
              </a:spcAft>
              <a:defRPr sz="1700">
                <a:solidFill>
                  <a:srgbClr val="FFFFFF"/>
                </a:solidFill>
                <a:latin typeface="微软雅黑"/>
              </a:defRPr>
            </a:pPr>
            <a:r>
              <a:t>✅  DeepSeek LLM + RAG（ChromaDB + BGE）→ 准确、流畅的 AI 导游对话</a:t>
            </a:r>
          </a:p>
          <a:p>
            <a:pPr>
              <a:spcAft>
                <a:spcPts val="500"/>
              </a:spcAft>
              <a:defRPr sz="1700">
                <a:solidFill>
                  <a:srgbClr val="FFFFFF"/>
                </a:solidFill>
                <a:latin typeface="微软雅黑"/>
              </a:defRPr>
            </a:pPr>
            <a:r>
              <a:t>✅  句子级流式 TTS 流水线：首句语音延迟从 15-30s 降至 2-5s</a:t>
            </a:r>
          </a:p>
          <a:p>
            <a:pPr>
              <a:spcAft>
                <a:spcPts val="500"/>
              </a:spcAft>
              <a:defRPr sz="1700">
                <a:solidFill>
                  <a:srgbClr val="FFFFFF"/>
                </a:solidFill>
                <a:latin typeface="微软雅黑"/>
              </a:defRPr>
            </a:pPr>
            <a:r>
              <a:t>✅  Live2D 数字人 + 无音频驱动口型同步方案</a:t>
            </a:r>
          </a:p>
          <a:p>
            <a:pPr>
              <a:spcAft>
                <a:spcPts val="500"/>
              </a:spcAft>
              <a:defRPr sz="1700">
                <a:solidFill>
                  <a:srgbClr val="FFFFFF"/>
                </a:solidFill>
                <a:latin typeface="微软雅黑"/>
              </a:defRPr>
            </a:pPr>
            <a:r>
              <a:t>✅  百度地图 3D + 双源 GPS + 步行路线规划</a:t>
            </a:r>
          </a:p>
          <a:p>
            <a:pPr>
              <a:spcAft>
                <a:spcPts val="500"/>
              </a:spcAft>
              <a:defRPr sz="1700">
                <a:solidFill>
                  <a:srgbClr val="FFFFFF"/>
                </a:solidFill>
                <a:latin typeface="微软雅黑"/>
              </a:defRPr>
            </a:pPr>
            <a:r>
              <a:t>✅  140K 行为数据协同过滤推荐 + EfficientNet-B3 拍照识景</a:t>
            </a:r>
          </a:p>
          <a:p>
            <a:pPr>
              <a:spcAft>
                <a:spcPts val="500"/>
              </a:spcAft>
              <a:defRPr sz="1700">
                <a:solidFill>
                  <a:srgbClr val="FFFFFF"/>
                </a:solidFill>
                <a:latin typeface="微软雅黑"/>
              </a:defRPr>
            </a:pPr>
            <a:r>
              <a:t>✅  管理后台 10 模块数据看板 + 容错分区设计</a:t>
            </a:r>
          </a:p>
          <a:p>
            <a:pPr>
              <a:spcAft>
                <a:spcPts val="500"/>
              </a:spcAft>
              <a:defRPr sz="1700">
                <a:solidFill>
                  <a:srgbClr val="FFFFFF"/>
                </a:solidFill>
                <a:latin typeface="微软雅黑"/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C89B3C"/>
                </a:solidFill>
                <a:latin typeface="微软雅黑"/>
              </a:defRPr>
            </a:pPr>
            <a:r>
              <a:t>未来展望</a:t>
            </a:r>
          </a:p>
          <a:p>
            <a:pPr>
              <a:spcAft>
                <a:spcPts val="500"/>
              </a:spcAft>
              <a:defRPr sz="1700">
                <a:solidFill>
                  <a:srgbClr val="FFFFFF"/>
                </a:solidFill>
                <a:latin typeface="微软雅黑"/>
              </a:defRPr>
            </a:pPr>
            <a:r>
              <a:t>🔮  接入多模态大模型 → 真正的拍照识景、图像问答</a:t>
            </a:r>
          </a:p>
          <a:p>
            <a:pPr>
              <a:spcAft>
                <a:spcPts val="500"/>
              </a:spcAft>
              <a:defRPr sz="1700">
                <a:solidFill>
                  <a:srgbClr val="FFFFFF"/>
                </a:solidFill>
                <a:latin typeface="微软雅黑"/>
              </a:defRPr>
            </a:pPr>
            <a:r>
              <a:t>🔮  AR 实景导航 → 3D 叠加指引</a:t>
            </a:r>
          </a:p>
          <a:p>
            <a:pPr>
              <a:spcAft>
                <a:spcPts val="500"/>
              </a:spcAft>
              <a:defRPr sz="1700">
                <a:solidFill>
                  <a:srgbClr val="FFFFFF"/>
                </a:solidFill>
                <a:latin typeface="微软雅黑"/>
              </a:defRPr>
            </a:pPr>
            <a:r>
              <a:t>🔮  适配 iOS 平台 → 跨平台完整覆盖</a:t>
            </a:r>
          </a:p>
          <a:p>
            <a:pPr>
              <a:spcAft>
                <a:spcPts val="500"/>
              </a:spcAft>
              <a:defRPr sz="1700">
                <a:solidFill>
                  <a:srgbClr val="FFFFFF"/>
                </a:solidFill>
                <a:latin typeface="微软雅黑"/>
              </a:defRPr>
            </a:pPr>
            <a:r>
              <a:t>🔮  SaaS 化平台 → 快速适配不同景区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560320"/>
            <a:ext cx="3931920" cy="3810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C89B3C"/>
                </a:solidFill>
                <a:latin typeface="微软雅黑"/>
              </a:defRPr>
            </a:pPr>
            <a:r>
              <a:t>感谢各位评委！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微软雅黑"/>
              </a:defRPr>
            </a:pPr>
            <a:r>
              <a:t>灵山胜境 AI 数字人导览系统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  <a:latin typeface="微软雅黑"/>
              </a:defRPr>
            </a:pPr>
            <a:r>
              <a:t>敬请指导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2411</Words>
  <Application>Microsoft Office PowerPoint</Application>
  <PresentationFormat>宽屏</PresentationFormat>
  <Paragraphs>456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冯致翔</dc:creator>
  <cp:keywords/>
  <dc:description>generated using python-pptx</dc:description>
  <cp:lastModifiedBy>致翔 冯</cp:lastModifiedBy>
  <cp:revision>3</cp:revision>
  <dcterms:created xsi:type="dcterms:W3CDTF">2013-01-27T09:14:16Z</dcterms:created>
  <dcterms:modified xsi:type="dcterms:W3CDTF">2026-07-20T05:50:38Z</dcterms:modified>
  <cp:category/>
</cp:coreProperties>
</file>